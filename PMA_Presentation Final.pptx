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2DADA1-220B-4D15-AB54-368EDE2993C6}" v="4" dt="2026-09-24T13:43:20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0323"/>
  </p:normalViewPr>
  <p:slideViewPr>
    <p:cSldViewPr snapToGrid="0" snapToObjects="1">
      <p:cViewPr varScale="1">
        <p:scale>
          <a:sx n="133" d="100"/>
          <a:sy n="133" d="100"/>
        </p:scale>
        <p:origin x="158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616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~0:30. The pitch: today a component often gives an early warning in a work order, then fails some flight cycles later </a:t>
            </a:r>
            <a:r>
              <a:rPr lang="en-GB" dirty="0"/>
              <a:t>-</a:t>
            </a:r>
            <a:r>
              <a:rPr dirty="0"/>
              <a:t> and that precursor signal is ignored. We built an agent to catch it and predict the lead time so planners act early. Introduce the three of us; Sebastian runs the demo. PACING (~20 min): title 0:30 · problem 2:30 · dataset 2:30 · solution 3:30 · process 2:30 · DEMO 3-5 min · production 2:00 · summary 1:30. Trim content if the demo runs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~2:30. State the problem in the team's own words: unscheduled maintenance is costly; a failure usually shows an early symptom in a work order, then the replacement happens some cycles later; that precursor link is not exploited today. The opportunity: an event-driven agent that predicts cycles-to-replacement so planners act early. Feasibility: managed GCP + advisory-only. Then read the learning goal </a:t>
            </a:r>
            <a:r>
              <a:rPr lang="en-GB" dirty="0"/>
              <a:t>-</a:t>
            </a:r>
            <a:r>
              <a:rPr dirty="0"/>
              <a:t> RAG over WOs, measure elapsed cycles, project a lead-time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~2:30. Lead with the metrics. Two datasets, two jobs: AMOS work orders carry the ground truth </a:t>
            </a:r>
            <a:r>
              <a:rPr lang="en-GB"/>
              <a:t>-</a:t>
            </a:r>
            <a:r>
              <a:t> the precursor symptom and the later replacement with the flight cycles between them (that gap is our label). FAA SDRs are public breadth for the retrieval vocabulary. Preprocessing highlights: the 211-field nested XML needs an explicit generated schema; we anonymise aircraft registrations; AMOS and FAA stay in separate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~3:30 (the core slide). The design is two cooperating agents. Agent 1, Knowledge Builder, runs offline: it mines AMOS history, confirms real replacements, and uses the L0-L3 pipeline (SQL filters, then semantic similarity, then LLM adjudication) to find genuine precursors </a:t>
            </a:r>
            <a:r>
              <a:rPr lang="en-GB"/>
              <a:t>-</a:t>
            </a:r>
            <a:r>
              <a:t> publishing embeddings, precursor→replacement links and TAC lead-time distributions. Agent 2, Decision Agent, runs online: a new work order triggers it, it embeds the text, retrieves the closest precursors from Agent 1's index, and returns a risk + expected-cycles recommendation. The split buys quality (batch validation) and speed (runtime). Everything sits on managed GCP, provisioned by Terraform.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3-5 min (centrepiece </a:t>
            </a:r>
            <a:r>
              <a:rPr lang="en-GB"/>
              <a:t>-</a:t>
            </a:r>
            <a:r>
              <a:t> give it room). Hand to Sebastian; keep a recorded fallback ready. Show the real, working path: upload a work order, the agent reads it, retrieves, and returns a cited answer (the part lookup with its Citations block is the trust story). Be upfront that the cycles-to-replacement number is the target output we're building toward, not yet live </a:t>
            </a:r>
            <a:r>
              <a:rPr lang="en-GB"/>
              <a:t>-</a:t>
            </a:r>
            <a:r>
              <a:t> don't fake it. Keep to one or two clean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~2:00. The path from foundation to production. The big pieces: finish the Knowledge Builder (precursor + lead-time model, carefully labelled, no leakage), finish the analytics tools, and add the event trigger so a new AMOS work order actually fires the Decision Agent. Then grant the runtime BigQuery access, eval-gate, and deploy to Agent Runtime. Right column maps each production need to a specific GCP service </a:t>
            </a:r>
            <a:r>
              <a:rPr lang="en-GB"/>
              <a:t>-</a:t>
            </a:r>
            <a:r>
              <a:t> answering the ASL 'which services in production'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~1:30. Land the lessons: the precursor→replacement signal is real and learnable; the offline/online split gives both quality and speed; the nested AMOS schema was the real difficulty; grounding and citations build trust. List the GCP services we'll keep. Note the Ryanair reference reports. Close on the one-line thesis and open for questions. Total ≈ 19 min + demo, leaving buffer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02920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252960" y="1554480"/>
            <a:ext cx="7863840" cy="7863840"/>
          </a:xfrm>
          <a:prstGeom prst="ellipse">
            <a:avLst/>
          </a:prstGeom>
          <a:solidFill>
            <a:srgbClr val="042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1280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>
                <a:solidFill>
                  <a:srgbClr val="F1C933"/>
                </a:solidFill>
                <a:latin typeface="Calibri"/>
              </a:rPr>
              <a:t>ASL OPEN PROJECT  •  GOOGLE CLOUD  •  GENAI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108960"/>
            <a:ext cx="14447520" cy="2007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6400" b="1" i="0" dirty="0">
                <a:solidFill>
                  <a:srgbClr val="FFFFFF"/>
                </a:solidFill>
                <a:latin typeface="Calibri Light"/>
              </a:rPr>
              <a:t>Predictive-Maintenance</a:t>
            </a:r>
            <a:r>
              <a:rPr lang="en-US" sz="6400" b="1" i="0" dirty="0">
                <a:solidFill>
                  <a:srgbClr val="FFFFFF"/>
                </a:solidFill>
                <a:latin typeface="Calibri Light"/>
              </a:rPr>
              <a:t> </a:t>
            </a:r>
            <a:r>
              <a:rPr sz="6400" b="1" i="0" dirty="0">
                <a:solidFill>
                  <a:srgbClr val="FFFFFF"/>
                </a:solidFill>
                <a:latin typeface="Calibri Light"/>
              </a:rPr>
              <a:t>Agent</a:t>
            </a:r>
            <a:r>
              <a:rPr sz="6400" b="1" i="0" dirty="0">
                <a:solidFill>
                  <a:srgbClr val="F1C933"/>
                </a:solidFill>
                <a:latin typeface="Calibri Light"/>
              </a:rPr>
              <a:t>  </a:t>
            </a:r>
            <a:endParaRPr lang="en-US" sz="6400" b="1" i="0" dirty="0">
              <a:solidFill>
                <a:srgbClr val="F1C933"/>
              </a:solidFill>
              <a:latin typeface="Calibri Light"/>
            </a:endParaRP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6400" b="1" i="0" dirty="0">
                <a:solidFill>
                  <a:srgbClr val="F1C933"/>
                </a:solidFill>
                <a:latin typeface="Calibri Light"/>
              </a:rPr>
              <a:t>PMA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7269480"/>
            <a:ext cx="2377440" cy="5486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7532746"/>
            <a:ext cx="15361920" cy="935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F1C933"/>
                </a:solidFill>
                <a:latin typeface="Calibri"/>
              </a:rPr>
              <a:t>Team:</a:t>
            </a:r>
            <a:r>
              <a:rPr sz="1600" i="0" dirty="0">
                <a:solidFill>
                  <a:srgbClr val="F1C933"/>
                </a:solidFill>
                <a:latin typeface="Calibri"/>
              </a:rPr>
              <a:t>  </a:t>
            </a:r>
            <a:r>
              <a:rPr sz="1600" i="0" dirty="0">
                <a:solidFill>
                  <a:srgbClr val="FFFFFF"/>
                </a:solidFill>
                <a:latin typeface="Calibri"/>
              </a:rPr>
              <a:t>Sebastian Kulaga</a:t>
            </a:r>
            <a:r>
              <a:rPr lang="en-GB" sz="1600" i="0" dirty="0">
                <a:solidFill>
                  <a:srgbClr val="FFFFFF"/>
                </a:solidFill>
                <a:latin typeface="Calibri"/>
              </a:rPr>
              <a:t> ( AI/ML Engineer )</a:t>
            </a:r>
            <a:r>
              <a:rPr sz="1600" i="0" dirty="0">
                <a:solidFill>
                  <a:srgbClr val="FFFFFF"/>
                </a:solidFill>
                <a:latin typeface="Calibri"/>
              </a:rPr>
              <a:t> ·  Nicolas Silva</a:t>
            </a:r>
            <a:r>
              <a:rPr lang="en-GB" sz="1600" i="0" dirty="0">
                <a:solidFill>
                  <a:srgbClr val="FFFFFF"/>
                </a:solidFill>
                <a:latin typeface="Calibri"/>
              </a:rPr>
              <a:t> ( BI Data Engineer )</a:t>
            </a:r>
            <a:r>
              <a:rPr sz="1600" i="0" dirty="0">
                <a:solidFill>
                  <a:srgbClr val="FFFFFF"/>
                </a:solidFill>
                <a:latin typeface="Calibri"/>
              </a:rPr>
              <a:t>  ·  Adrian </a:t>
            </a:r>
            <a:r>
              <a:rPr sz="1600" i="0" dirty="0" err="1">
                <a:solidFill>
                  <a:srgbClr val="FFFFFF"/>
                </a:solidFill>
                <a:latin typeface="Calibri"/>
              </a:rPr>
              <a:t>Pozueco</a:t>
            </a:r>
            <a:r>
              <a:rPr lang="en-GB" sz="1600" i="0" dirty="0">
                <a:solidFill>
                  <a:srgbClr val="FFFFFF"/>
                </a:solidFill>
                <a:latin typeface="Calibri"/>
              </a:rPr>
              <a:t> (Principal Software Engineer )</a:t>
            </a:r>
            <a:endParaRPr sz="160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F1C933"/>
                </a:solidFill>
                <a:latin typeface="Calibri"/>
              </a:rPr>
              <a:t>Scope: 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Boeing 737-800 NG / 737-8200 MAX   </a:t>
            </a:r>
            <a:r>
              <a:rPr sz="1600" b="1" i="0" dirty="0">
                <a:solidFill>
                  <a:srgbClr val="F1C933"/>
                </a:solidFill>
                <a:latin typeface="Calibri"/>
              </a:rPr>
              <a:t>Stack: 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ADK · Gemini on </a:t>
            </a:r>
            <a:r>
              <a:rPr lang="en-GB" sz="1600" b="0" i="0" dirty="0">
                <a:solidFill>
                  <a:srgbClr val="FFFFFF"/>
                </a:solidFill>
                <a:latin typeface="Calibri"/>
              </a:rPr>
              <a:t>Agent Platform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BigQuery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lang="en-GB" sz="1600" b="0" i="0" dirty="0">
                <a:solidFill>
                  <a:srgbClr val="FFFFFF"/>
                </a:solidFill>
                <a:latin typeface="Calibri"/>
              </a:rPr>
              <a:t>Agent Platform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Search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F1C933"/>
                </a:solidFill>
                <a:latin typeface="Calibri"/>
              </a:rPr>
              <a:t>Date: 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September 2026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2647B21D-7E84-702A-5AF2-EE9243451553}"/>
              </a:ext>
            </a:extLst>
          </p:cNvPr>
          <p:cNvSpPr/>
          <p:nvPr/>
        </p:nvSpPr>
        <p:spPr>
          <a:xfrm>
            <a:off x="360893" y="465190"/>
            <a:ext cx="2669105" cy="1127020"/>
          </a:xfrm>
          <a:custGeom>
            <a:avLst/>
            <a:gdLst/>
            <a:ahLst/>
            <a:cxnLst/>
            <a:rect l="l" t="t" r="r" b="b"/>
            <a:pathLst>
              <a:path w="2669105" h="1127020">
                <a:moveTo>
                  <a:pt x="0" y="0"/>
                </a:moveTo>
                <a:lnTo>
                  <a:pt x="2669106" y="0"/>
                </a:lnTo>
                <a:lnTo>
                  <a:pt x="2669106" y="1127020"/>
                </a:lnTo>
                <a:lnTo>
                  <a:pt x="0" y="1127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C6F5BC1A-5909-58F1-199D-511EA44F79DC}"/>
              </a:ext>
            </a:extLst>
          </p:cNvPr>
          <p:cNvGrpSpPr/>
          <p:nvPr/>
        </p:nvGrpSpPr>
        <p:grpSpPr>
          <a:xfrm>
            <a:off x="12461362" y="1762882"/>
            <a:ext cx="7447035" cy="7447035"/>
            <a:chOff x="0" y="0"/>
            <a:chExt cx="812800" cy="812800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637622DC-B039-CA6D-3634-AFAC233448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6941" r="-3058"/>
              </a:stretch>
            </a:blipFill>
            <a:ln w="142875" cap="sq">
              <a:solidFill>
                <a:srgbClr val="1D1D6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325880" y="5452907"/>
            <a:ext cx="10927079" cy="142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 i="0" dirty="0">
                <a:solidFill>
                  <a:srgbClr val="D7DFF0"/>
                </a:solidFill>
                <a:latin typeface="Calibri"/>
              </a:rPr>
              <a:t>Spot a component's precursor symptom in a new work order,</a:t>
            </a:r>
            <a:r>
              <a:rPr lang="en-GB" sz="2800" b="0" i="0" dirty="0">
                <a:solidFill>
                  <a:srgbClr val="D7DFF0"/>
                </a:solidFill>
                <a:latin typeface="Calibri"/>
              </a:rPr>
              <a:t> </a:t>
            </a:r>
            <a:r>
              <a:rPr sz="2800" b="0" i="0" dirty="0">
                <a:solidFill>
                  <a:srgbClr val="D7DFF0"/>
                </a:solidFill>
                <a:latin typeface="Calibri"/>
              </a:rPr>
              <a:t>and predict the flight cycles until it needs replacing </a:t>
            </a:r>
            <a:r>
              <a:rPr lang="en-GB" sz="2800" b="0" i="0" dirty="0">
                <a:solidFill>
                  <a:srgbClr val="D7DFF0"/>
                </a:solidFill>
                <a:latin typeface="Calibri"/>
              </a:rPr>
              <a:t>-</a:t>
            </a:r>
            <a:r>
              <a:rPr sz="2800" b="0" i="0" dirty="0">
                <a:solidFill>
                  <a:srgbClr val="D7DFF0"/>
                </a:solidFill>
                <a:latin typeface="Calibri"/>
              </a:rPr>
              <a:t> turning unscheduled maintenance into planned.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10287000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5840" y="777240"/>
            <a:ext cx="822960" cy="14630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73590"/>
                </a:solidFill>
                <a:latin typeface="Calibri"/>
              </a:rPr>
              <a:t>01 · PROBLEM &amp; LEARNING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98448"/>
            <a:ext cx="162763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dirty="0">
                <a:solidFill>
                  <a:srgbClr val="1B2438"/>
                </a:solidFill>
                <a:latin typeface="Calibri Light"/>
              </a:rPr>
              <a:t>Unscheduled maintenance is costly </a:t>
            </a:r>
            <a:r>
              <a:rPr lang="en-GB" sz="3400" b="1" i="0" dirty="0">
                <a:solidFill>
                  <a:srgbClr val="1B2438"/>
                </a:solidFill>
                <a:latin typeface="Calibri Light"/>
              </a:rPr>
              <a:t>-</a:t>
            </a:r>
            <a:r>
              <a:rPr sz="3400" b="1" i="0" dirty="0">
                <a:solidFill>
                  <a:srgbClr val="1B2438"/>
                </a:solidFill>
                <a:latin typeface="Calibri Light"/>
              </a:rPr>
              <a:t> the warning is already there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98572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PMA · Predictive-Maintenance Agent · ASL Open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67759" y="98572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677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514600"/>
            <a:ext cx="7863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5840" y="2514600"/>
            <a:ext cx="7863840" cy="566928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2613398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7178040" cy="2156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lang="en-GB" sz="2000" b="1" dirty="0">
                <a:solidFill>
                  <a:srgbClr val="F1C933"/>
                </a:solidFill>
                <a:latin typeface="Calibri"/>
              </a:rPr>
              <a:t>-</a:t>
            </a:r>
            <a:r>
              <a:rPr sz="2000" b="1" dirty="0">
                <a:solidFill>
                  <a:srgbClr val="F1C933"/>
                </a:solidFill>
                <a:latin typeface="Calibri"/>
              </a:rPr>
              <a:t>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Unscheduled work is disruptive.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AMOS tracks every work order with the aircraft's flight cycles.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lang="en-GB" sz="2000" b="1" dirty="0">
                <a:solidFill>
                  <a:srgbClr val="F1C933"/>
                </a:solidFill>
                <a:latin typeface="Calibri"/>
              </a:rPr>
              <a:t>-</a:t>
            </a:r>
            <a:r>
              <a:rPr sz="2000" b="1" dirty="0">
                <a:solidFill>
                  <a:srgbClr val="F1C933"/>
                </a:solidFill>
                <a:latin typeface="Calibri"/>
              </a:rPr>
              <a:t>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A precursor usually appears first.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A symptom is recorded in a WO, then the part is replaced some cycles later.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lang="en-GB" sz="2000" b="1" dirty="0">
                <a:solidFill>
                  <a:srgbClr val="F1C933"/>
                </a:solidFill>
                <a:latin typeface="Calibri"/>
              </a:rPr>
              <a:t>-</a:t>
            </a:r>
            <a:r>
              <a:rPr sz="2000" b="1" dirty="0">
                <a:solidFill>
                  <a:srgbClr val="F1C933"/>
                </a:solidFill>
                <a:latin typeface="Calibri"/>
              </a:rPr>
              <a:t>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That signal is unused today.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Nobody connects the early symptom to the later replacement.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514600"/>
            <a:ext cx="76809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418320" y="2514600"/>
            <a:ext cx="7680960" cy="566928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38360" y="2613398"/>
            <a:ext cx="7132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1B2438"/>
                </a:solidFill>
                <a:latin typeface="Calibri"/>
              </a:rPr>
              <a:t>The opportunity &amp;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291840"/>
            <a:ext cx="6995160" cy="2156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dirty="0">
                <a:solidFill>
                  <a:srgbClr val="2E7D32"/>
                </a:solidFill>
                <a:latin typeface="Calibri"/>
              </a:rPr>
              <a:t>✓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Event-driven prediction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on each new WO, </a:t>
            </a:r>
            <a:r>
              <a:rPr sz="2000" dirty="0" err="1">
                <a:solidFill>
                  <a:srgbClr val="1B2438"/>
                </a:solidFill>
                <a:latin typeface="Calibri"/>
              </a:rPr>
              <a:t>recognise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a known precursor pattern.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dirty="0">
                <a:solidFill>
                  <a:srgbClr val="2E7D32"/>
                </a:solidFill>
                <a:latin typeface="Calibri"/>
              </a:rPr>
              <a:t>✓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Cycles-to-replacement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estimate how long until the component likely fails.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dirty="0">
                <a:solidFill>
                  <a:srgbClr val="2E7D32"/>
                </a:solidFill>
                <a:latin typeface="Calibri"/>
              </a:rPr>
              <a:t>✓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Plan, don't react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convert unscheduled events into scheduled ones; fewer AOGs.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806440"/>
            <a:ext cx="7863840" cy="3081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05840" y="5806440"/>
            <a:ext cx="7863840" cy="566928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5905238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583679"/>
            <a:ext cx="7178040" cy="2156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lang="en-GB" sz="2000" b="1" dirty="0">
                <a:solidFill>
                  <a:srgbClr val="F1C933"/>
                </a:solidFill>
                <a:latin typeface="Calibri"/>
              </a:rPr>
              <a:t>-</a:t>
            </a:r>
            <a:r>
              <a:rPr sz="2000" b="1" dirty="0">
                <a:solidFill>
                  <a:srgbClr val="F1C933"/>
                </a:solidFill>
                <a:latin typeface="Calibri"/>
              </a:rPr>
              <a:t>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Managed GCP building blocks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B2438"/>
                </a:solidFill>
                <a:latin typeface="Calibri"/>
              </a:rPr>
              <a:t>BigQuery</a:t>
            </a:r>
            <a:r>
              <a:rPr sz="2000" dirty="0">
                <a:solidFill>
                  <a:srgbClr val="1B2438"/>
                </a:solidFill>
                <a:latin typeface="Calibri"/>
              </a:rPr>
              <a:t>,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Agent Platform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Search, Agent Runtime; no bespoke infra.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lang="en-GB" sz="2000" b="1" dirty="0">
                <a:solidFill>
                  <a:srgbClr val="F1C933"/>
                </a:solidFill>
                <a:latin typeface="Calibri"/>
              </a:rPr>
              <a:t>-</a:t>
            </a:r>
            <a:r>
              <a:rPr sz="2000" b="1" dirty="0">
                <a:solidFill>
                  <a:srgbClr val="F1C933"/>
                </a:solidFill>
                <a:latin typeface="Calibri"/>
              </a:rPr>
              <a:t>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Recommendation-only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the agent advises; engineers keep the decision.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lang="en-GB" sz="2000" b="1" dirty="0">
                <a:solidFill>
                  <a:srgbClr val="F1C933"/>
                </a:solidFill>
                <a:latin typeface="Calibri"/>
              </a:rPr>
              <a:t>-</a:t>
            </a:r>
            <a:r>
              <a:rPr sz="2000" b="1" dirty="0">
                <a:solidFill>
                  <a:srgbClr val="F1C933"/>
                </a:solidFill>
                <a:latin typeface="Calibri"/>
              </a:rPr>
              <a:t>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Scoped to one fleet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737-800 NG / 737-8200 MAX keeps data and evaluation tractable.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5806439"/>
            <a:ext cx="7680960" cy="31260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418320" y="5806440"/>
            <a:ext cx="7680960" cy="566928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38360" y="5905238"/>
            <a:ext cx="7132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1B2438"/>
                </a:solidFill>
                <a:latin typeface="Calibri"/>
              </a:rPr>
              <a:t>Learning goal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6583679"/>
            <a:ext cx="6995160" cy="2156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Use RAG over historical WOs to find semantically similar precursor cases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Measure the flight cycles between that precursor and the replacement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Project the lead time as a distribution with confidence (p50 / p90)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39" y="9081640"/>
            <a:ext cx="16093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 dirty="0">
                <a:solidFill>
                  <a:srgbClr val="073590"/>
                </a:solidFill>
                <a:latin typeface="Calibri"/>
              </a:rPr>
              <a:t>Domain terms:  </a:t>
            </a:r>
            <a:r>
              <a:rPr sz="1400" b="0" i="0" dirty="0">
                <a:solidFill>
                  <a:srgbClr val="5B6677"/>
                </a:solidFill>
                <a:latin typeface="Calibri"/>
              </a:rPr>
              <a:t>AMOS = maintenance ERP · WO = work order · flight cycle = one </a:t>
            </a:r>
            <a:r>
              <a:rPr sz="1400" b="0" i="0" dirty="0" err="1">
                <a:solidFill>
                  <a:srgbClr val="5B6677"/>
                </a:solidFill>
                <a:latin typeface="Calibri"/>
              </a:rPr>
              <a:t>take-off+landing</a:t>
            </a:r>
            <a:r>
              <a:rPr sz="1400" b="0" i="0" dirty="0">
                <a:solidFill>
                  <a:srgbClr val="5B6677"/>
                </a:solidFill>
                <a:latin typeface="Calibri"/>
              </a:rPr>
              <a:t> · precursor = early symptom before a failure · P/N = part number · NG = 737-800 · MAX = 737-8200.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10287000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5840" y="777240"/>
            <a:ext cx="822960" cy="14630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73590"/>
                </a:solidFill>
                <a:latin typeface="Calibri"/>
              </a:rPr>
              <a:t>02 ·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98448"/>
            <a:ext cx="1627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dirty="0">
                <a:solidFill>
                  <a:srgbClr val="1B2438"/>
                </a:solidFill>
                <a:latin typeface="Calibri Light"/>
              </a:rPr>
              <a:t>AMOS work orders, plus public FAA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98572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dirty="0">
                <a:solidFill>
                  <a:srgbClr val="5B6677"/>
                </a:solidFill>
                <a:latin typeface="Calibri"/>
              </a:rPr>
              <a:t>PMA · Predictive-Maintenance Agent · ASL Open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67759" y="98572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677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514600"/>
            <a:ext cx="3794760" cy="1371600"/>
          </a:xfrm>
          <a:prstGeom prst="roundRect">
            <a:avLst/>
          </a:prstGeom>
          <a:solidFill>
            <a:srgbClr val="073590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1C933"/>
                </a:solidFill>
                <a:latin typeface="Calibri Light"/>
              </a:rPr>
              <a:t>8,259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8328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AMOS work orders parsed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2514600"/>
            <a:ext cx="3794760" cy="1371600"/>
          </a:xfrm>
          <a:prstGeom prst="roundRect">
            <a:avLst/>
          </a:prstGeom>
          <a:solidFill>
            <a:srgbClr val="073590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6672" y="269748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1C933"/>
                </a:solidFill>
                <a:latin typeface="Calibri Light"/>
              </a:rPr>
              <a:t>196,404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338328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FAA SDR reports (2023-25)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4" y="2514600"/>
            <a:ext cx="3794760" cy="1371600"/>
          </a:xfrm>
          <a:prstGeom prst="roundRect">
            <a:avLst/>
          </a:prstGeom>
          <a:solidFill>
            <a:srgbClr val="073590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73184" y="269748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1C933"/>
                </a:solidFill>
                <a:latin typeface="Calibri Light"/>
              </a:rPr>
              <a:t>31,677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3184" y="338328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Boeing 737 subset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95376" y="2514600"/>
            <a:ext cx="3794760" cy="1371600"/>
          </a:xfrm>
          <a:prstGeom prst="roundRect">
            <a:avLst/>
          </a:prstGeom>
          <a:solidFill>
            <a:srgbClr val="073590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569696" y="269748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1C933"/>
                </a:solidFill>
                <a:latin typeface="Calibri Light"/>
              </a:rPr>
              <a:t>211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69696" y="338328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fields in the WO schema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114800"/>
            <a:ext cx="7863840" cy="39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5840" y="4114800"/>
            <a:ext cx="7863840" cy="566928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25880" y="4213598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Sources, features &amp; labels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92040"/>
            <a:ext cx="7178040" cy="29826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000" b="1" dirty="0">
                <a:solidFill>
                  <a:srgbClr val="F1C933"/>
                </a:solidFill>
                <a:latin typeface="Calibri"/>
              </a:rPr>
              <a:t>-</a:t>
            </a:r>
            <a:r>
              <a:rPr sz="2000" b="1" dirty="0">
                <a:solidFill>
                  <a:srgbClr val="F1C933"/>
                </a:solidFill>
                <a:latin typeface="Calibri"/>
              </a:rPr>
              <a:t>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AMOS work-order XML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flight cycles, part in/out; nested schema.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000" b="1" dirty="0">
                <a:solidFill>
                  <a:srgbClr val="F1C933"/>
                </a:solidFill>
                <a:latin typeface="Calibri"/>
              </a:rPr>
              <a:t>-</a:t>
            </a:r>
            <a:r>
              <a:rPr sz="2000" b="1" dirty="0">
                <a:solidFill>
                  <a:srgbClr val="F1C933"/>
                </a:solidFill>
                <a:latin typeface="Calibri"/>
              </a:rPr>
              <a:t>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Feature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embedding of the WO symptom text for semantic similarity.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000" b="1" dirty="0">
                <a:solidFill>
                  <a:srgbClr val="F1C933"/>
                </a:solidFill>
                <a:latin typeface="Calibri"/>
              </a:rPr>
              <a:t>-</a:t>
            </a:r>
            <a:r>
              <a:rPr sz="2000" b="1" dirty="0">
                <a:solidFill>
                  <a:srgbClr val="F1C933"/>
                </a:solidFill>
                <a:latin typeface="Calibri"/>
              </a:rPr>
              <a:t>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Label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confirmed replacement + flight cycles elapsed (the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lead time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to learn).</a:t>
            </a:r>
          </a:p>
          <a:p>
            <a:pPr marL="285750" indent="-28575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sz="2000" b="1" dirty="0">
                <a:solidFill>
                  <a:srgbClr val="1B2438"/>
                </a:solidFill>
                <a:latin typeface="Calibri"/>
              </a:rPr>
              <a:t>FAA SDR (public)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cracks, corrosion, hydraulic leaks, electrical &amp; cabin faults; narratives + cycles.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 ( potentially extension )</a:t>
            </a:r>
          </a:p>
          <a:p>
            <a:pPr marL="285750" indent="-28575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lang="en-GB" sz="2000" dirty="0">
                <a:solidFill>
                  <a:srgbClr val="1B2438"/>
                </a:solidFill>
                <a:latin typeface="Calibri"/>
              </a:rPr>
              <a:t>Add the manual</a:t>
            </a:r>
            <a:endParaRPr sz="2000" dirty="0">
              <a:solidFill>
                <a:srgbClr val="1B2438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418320" y="4114800"/>
            <a:ext cx="7680960" cy="3895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18320" y="4114800"/>
            <a:ext cx="7680960" cy="566928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38360" y="4213598"/>
            <a:ext cx="7132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1B2438"/>
                </a:solidFill>
                <a:latin typeface="Calibri"/>
              </a:rPr>
              <a:t>Preprocessing &amp; privacy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892040"/>
            <a:ext cx="6995160" cy="2880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XML → NDJSON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(scripts/xml_to_ndjson.py) with generated BQ schema + drift check.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b="1" dirty="0" err="1">
                <a:solidFill>
                  <a:srgbClr val="1B2438"/>
                </a:solidFill>
                <a:latin typeface="Calibri"/>
              </a:rPr>
              <a:t>Anonymise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aircraft registrations; keep any mapping out of the index.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FAA filter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(build_faa_sdr_wo_parts.py) → Boeing WO-part matches only.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Separate sources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a public FAA report is never joined into an aircraft's own history.</a:t>
            </a:r>
            <a:endParaRPr lang="en-GB" sz="2000" dirty="0">
              <a:solidFill>
                <a:srgbClr val="1B2438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152144" y="8092440"/>
            <a:ext cx="16093440" cy="1589389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5840" y="8010144"/>
            <a:ext cx="109728" cy="1737360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71600" y="850392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73590"/>
                </a:solidFill>
                <a:latin typeface="Calibri"/>
              </a:rPr>
              <a:t>Why two datasets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469" y="8881751"/>
            <a:ext cx="15544800" cy="5489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lang="en-GB" sz="1450" b="1" dirty="0">
                <a:solidFill>
                  <a:srgbClr val="F1C933"/>
                </a:solidFill>
                <a:latin typeface="Calibri"/>
              </a:rPr>
              <a:t>-</a:t>
            </a:r>
            <a:r>
              <a:rPr sz="1450" b="1" dirty="0">
                <a:solidFill>
                  <a:srgbClr val="F1C933"/>
                </a:solidFill>
                <a:latin typeface="Calibri"/>
              </a:rPr>
              <a:t>  </a:t>
            </a:r>
            <a:r>
              <a:rPr sz="1450" b="1" dirty="0">
                <a:solidFill>
                  <a:srgbClr val="1B2438"/>
                </a:solidFill>
                <a:latin typeface="Calibri"/>
              </a:rPr>
              <a:t>AMOS is the outcome truth </a:t>
            </a:r>
            <a:r>
              <a:rPr lang="en-GB" sz="1450" dirty="0">
                <a:solidFill>
                  <a:srgbClr val="1B2438"/>
                </a:solidFill>
                <a:latin typeface="Calibri"/>
              </a:rPr>
              <a:t>-</a:t>
            </a:r>
            <a:r>
              <a:rPr sz="1450" dirty="0">
                <a:solidFill>
                  <a:srgbClr val="1B2438"/>
                </a:solidFill>
                <a:latin typeface="Calibri"/>
              </a:rPr>
              <a:t> real fleet histories with the precursor → replacement pairs we predict 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lang="en-GB" sz="1450" b="1" dirty="0">
                <a:solidFill>
                  <a:srgbClr val="F1C933"/>
                </a:solidFill>
                <a:latin typeface="Calibri"/>
              </a:rPr>
              <a:t>-</a:t>
            </a:r>
            <a:r>
              <a:rPr sz="1450" b="1" dirty="0">
                <a:solidFill>
                  <a:srgbClr val="F1C933"/>
                </a:solidFill>
                <a:latin typeface="Calibri"/>
              </a:rPr>
              <a:t>  </a:t>
            </a:r>
            <a:r>
              <a:rPr sz="1450" b="1" dirty="0">
                <a:solidFill>
                  <a:srgbClr val="1B2438"/>
                </a:solidFill>
                <a:latin typeface="Calibri"/>
              </a:rPr>
              <a:t>FAA is breadth for retrieval </a:t>
            </a:r>
            <a:r>
              <a:rPr lang="en-GB" sz="1450" dirty="0">
                <a:solidFill>
                  <a:srgbClr val="1B2438"/>
                </a:solidFill>
                <a:latin typeface="Calibri"/>
              </a:rPr>
              <a:t>-</a:t>
            </a:r>
            <a:r>
              <a:rPr sz="1450" dirty="0">
                <a:solidFill>
                  <a:srgbClr val="1B2438"/>
                </a:solidFill>
                <a:latin typeface="Calibri"/>
              </a:rPr>
              <a:t> 31,677 Boeing 737 reports enrich the symptom vocabulary while we build the AMOS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10287000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5840" y="777240"/>
            <a:ext cx="822960" cy="14630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73590"/>
                </a:solidFill>
                <a:latin typeface="Calibri"/>
              </a:rPr>
              <a:t>03 · 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98448"/>
            <a:ext cx="1627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dirty="0">
                <a:solidFill>
                  <a:srgbClr val="1B2438"/>
                </a:solidFill>
                <a:latin typeface="Calibri Light"/>
              </a:rPr>
              <a:t>Two cooperating agents: build knowledge offline, decide online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98572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PMA · Predictive-Maintenance Agent · ASL Open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67759" y="98572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677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468880"/>
            <a:ext cx="77724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5840" y="2468880"/>
            <a:ext cx="7772400" cy="658368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2613398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Agent 1 · Knowledge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468880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1C933"/>
                </a:solidFill>
                <a:latin typeface="Calibri"/>
              </a:rPr>
              <a:t>OFFLINE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37560"/>
            <a:ext cx="7132320" cy="2349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 dirty="0">
                <a:solidFill>
                  <a:srgbClr val="F1C933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Ingest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historical AMOS work orders.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 dirty="0">
                <a:solidFill>
                  <a:srgbClr val="F1C933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Detect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confirmed component replacements.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 dirty="0">
                <a:solidFill>
                  <a:srgbClr val="F1C933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Find precursors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Pipeline</a:t>
            </a:r>
            <a:r>
              <a:rPr sz="2000" dirty="0">
                <a:solidFill>
                  <a:srgbClr val="1B2438"/>
                </a:solidFill>
                <a:latin typeface="Calibri"/>
              </a:rPr>
              <a:t>: SQL filters → semantic similarity → LLM adjudication.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 dirty="0">
                <a:solidFill>
                  <a:srgbClr val="F1C933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Publish trusted artifacts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embeddings · </a:t>
            </a:r>
            <a:r>
              <a:rPr sz="2000" dirty="0" err="1">
                <a:solidFill>
                  <a:srgbClr val="1B2438"/>
                </a:solidFill>
                <a:latin typeface="Calibri"/>
              </a:rPr>
              <a:t>precursor→replacement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links · TAC lead-time (p50 / p90 / confidence).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468880"/>
            <a:ext cx="75895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9509760" y="2468880"/>
            <a:ext cx="7589520" cy="658368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29800" y="2613398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1B2438"/>
                </a:solidFill>
                <a:latin typeface="Calibri"/>
              </a:rPr>
              <a:t>Agent 2 · Decision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0" y="2468880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73590"/>
                </a:solidFill>
                <a:latin typeface="Calibri"/>
              </a:rPr>
              <a:t>ONLINE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337560"/>
            <a:ext cx="6858000" cy="20259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Trigger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on each new AMOS work order (event-driven).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Embed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the new work-order text.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Retrieve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the closest precursor patterns from Agent 1's index.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Recommend </a:t>
            </a:r>
            <a:r>
              <a:rPr sz="2000" dirty="0">
                <a:solidFill>
                  <a:srgbClr val="1B2438"/>
                </a:solidFill>
                <a:latin typeface="Calibri"/>
              </a:rPr>
              <a:t>risk + expected flight cycles to replacement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advisory only.</a:t>
            </a:r>
          </a:p>
        </p:txBody>
      </p:sp>
      <p:sp>
        <p:nvSpPr>
          <p:cNvPr id="20" name="Chevron 19"/>
          <p:cNvSpPr/>
          <p:nvPr/>
        </p:nvSpPr>
        <p:spPr>
          <a:xfrm>
            <a:off x="8796528" y="4206240"/>
            <a:ext cx="713232" cy="502920"/>
          </a:xfrm>
          <a:prstGeom prst="chevron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47548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677"/>
                </a:solidFill>
                <a:latin typeface="Calibri"/>
              </a:rPr>
              <a:t>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6766560"/>
            <a:ext cx="16093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 dirty="0">
                <a:solidFill>
                  <a:srgbClr val="073590"/>
                </a:solidFill>
                <a:latin typeface="Calibri"/>
              </a:rPr>
              <a:t>Why split them?  </a:t>
            </a:r>
            <a:r>
              <a:rPr sz="2000" b="0" i="0" dirty="0">
                <a:solidFill>
                  <a:srgbClr val="1B2438"/>
                </a:solidFill>
                <a:latin typeface="Calibri"/>
              </a:rPr>
              <a:t>Rigorous validation in batch + fast, low-latency decisions at runtime.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7360920"/>
            <a:ext cx="16093440" cy="1417320"/>
          </a:xfrm>
          <a:prstGeom prst="roundRect">
            <a:avLst/>
          </a:prstGeom>
          <a:solidFill>
            <a:srgbClr val="EDF0F5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25880" y="7516368"/>
            <a:ext cx="1554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73590"/>
                </a:solidFill>
                <a:latin typeface="Calibri"/>
              </a:rPr>
              <a:t>On Google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7936992"/>
            <a:ext cx="15544800" cy="480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 dirty="0" err="1">
                <a:solidFill>
                  <a:srgbClr val="1B2438"/>
                </a:solidFill>
                <a:latin typeface="Calibri"/>
              </a:rPr>
              <a:t>BigQuery</a:t>
            </a:r>
            <a:r>
              <a:rPr sz="1400" b="1" i="0" dirty="0">
                <a:solidFill>
                  <a:srgbClr val="1B2438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5B6677"/>
                </a:solidFill>
                <a:latin typeface="Calibri"/>
              </a:rPr>
              <a:t>(WO tables, embeddings, vector search, lead-time SQL)  ·  </a:t>
            </a:r>
            <a:r>
              <a:rPr lang="en-GB" sz="1400" b="1" i="0" dirty="0">
                <a:solidFill>
                  <a:srgbClr val="1B2438"/>
                </a:solidFill>
                <a:latin typeface="Calibri"/>
              </a:rPr>
              <a:t>Agent Platform</a:t>
            </a:r>
            <a:r>
              <a:rPr sz="1400" b="1" i="0" dirty="0">
                <a:solidFill>
                  <a:srgbClr val="1B2438"/>
                </a:solidFill>
                <a:latin typeface="Calibri"/>
              </a:rPr>
              <a:t> Search </a:t>
            </a:r>
            <a:r>
              <a:rPr sz="1400" b="0" i="0" dirty="0">
                <a:solidFill>
                  <a:srgbClr val="5B6677"/>
                </a:solidFill>
                <a:latin typeface="Calibri"/>
              </a:rPr>
              <a:t>(IPC manuals / grounding)  ·  </a:t>
            </a:r>
            <a:r>
              <a:rPr sz="1400" b="1" i="0" dirty="0">
                <a:solidFill>
                  <a:srgbClr val="1B2438"/>
                </a:solidFill>
                <a:latin typeface="Calibri"/>
              </a:rPr>
              <a:t>Agent Runtime + Gemini </a:t>
            </a:r>
            <a:r>
              <a:rPr sz="1400" b="0" i="0" dirty="0">
                <a:solidFill>
                  <a:srgbClr val="5B6677"/>
                </a:solidFill>
                <a:latin typeface="Calibri"/>
              </a:rPr>
              <a:t>(hosting, adjudication, generation)  ·  </a:t>
            </a:r>
            <a:r>
              <a:rPr sz="1400" b="1" i="0" dirty="0">
                <a:solidFill>
                  <a:srgbClr val="1B2438"/>
                </a:solidFill>
                <a:latin typeface="Calibri"/>
              </a:rPr>
              <a:t>Cloud Storage </a:t>
            </a:r>
            <a:r>
              <a:rPr sz="1400" b="0" i="0" dirty="0">
                <a:solidFill>
                  <a:srgbClr val="5B6677"/>
                </a:solidFill>
                <a:latin typeface="Calibri"/>
              </a:rPr>
              <a:t>·  </a:t>
            </a:r>
            <a:r>
              <a:rPr sz="1400" b="1" i="0" dirty="0">
                <a:solidFill>
                  <a:srgbClr val="1B2438"/>
                </a:solidFill>
                <a:latin typeface="Calibri"/>
              </a:rPr>
              <a:t>Cloud Run </a:t>
            </a:r>
            <a:r>
              <a:rPr sz="1400" b="0" i="0" dirty="0">
                <a:solidFill>
                  <a:srgbClr val="5B6677"/>
                </a:solidFill>
                <a:latin typeface="Calibri"/>
              </a:rPr>
              <a:t>·  </a:t>
            </a:r>
            <a:r>
              <a:rPr sz="1400" b="1" i="0" dirty="0">
                <a:solidFill>
                  <a:srgbClr val="1B2438"/>
                </a:solidFill>
                <a:latin typeface="Calibri"/>
              </a:rPr>
              <a:t>Logging + Trace → </a:t>
            </a:r>
            <a:r>
              <a:rPr sz="1400" b="1" i="0" dirty="0" err="1">
                <a:solidFill>
                  <a:srgbClr val="1B2438"/>
                </a:solidFill>
                <a:latin typeface="Calibri"/>
              </a:rPr>
              <a:t>BigQuery</a:t>
            </a:r>
            <a:r>
              <a:rPr sz="1400" b="1" i="0" dirty="0">
                <a:solidFill>
                  <a:srgbClr val="1B2438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5B6677"/>
                </a:solidFill>
                <a:latin typeface="Calibri"/>
              </a:rPr>
              <a:t>·  </a:t>
            </a:r>
            <a:r>
              <a:rPr sz="1400" b="1" i="0" dirty="0">
                <a:solidFill>
                  <a:srgbClr val="1B2438"/>
                </a:solidFill>
                <a:latin typeface="Calibri"/>
              </a:rPr>
              <a:t>Terraform </a:t>
            </a:r>
            <a:r>
              <a:rPr sz="1400" b="0" i="0" dirty="0">
                <a:solidFill>
                  <a:srgbClr val="5B6677"/>
                </a:solidFill>
                <a:latin typeface="Calibri"/>
              </a:rPr>
              <a:t>(</a:t>
            </a:r>
            <a:r>
              <a:rPr sz="1400" b="0" i="0" dirty="0" err="1">
                <a:solidFill>
                  <a:srgbClr val="5B6677"/>
                </a:solidFill>
                <a:latin typeface="Calibri"/>
              </a:rPr>
              <a:t>IaC</a:t>
            </a:r>
            <a:r>
              <a:rPr sz="1400" b="0" i="0" dirty="0">
                <a:solidFill>
                  <a:srgbClr val="5B6677"/>
                </a:solidFill>
                <a:latin typeface="Calibri"/>
              </a:rPr>
              <a:t>)  ·  </a:t>
            </a:r>
            <a:r>
              <a:rPr sz="1400" b="1" i="0" dirty="0">
                <a:solidFill>
                  <a:srgbClr val="1B2438"/>
                </a:solidFill>
                <a:latin typeface="Calibri"/>
              </a:rPr>
              <a:t>A2A</a:t>
            </a:r>
            <a:r>
              <a:rPr sz="1400" b="0" i="0" dirty="0">
                <a:solidFill>
                  <a:srgbClr val="5B6677"/>
                </a:solidFill>
                <a:latin typeface="Calibri"/>
              </a:rPr>
              <a:t> protocol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02920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5840" y="1005840"/>
            <a:ext cx="822960" cy="14630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1C933"/>
                </a:solidFill>
                <a:latin typeface="Calibr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6002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 dirty="0">
                <a:solidFill>
                  <a:srgbClr val="FFFFFF"/>
                </a:solidFill>
                <a:latin typeface="Calibri Light"/>
              </a:rPr>
              <a:t>Upload a work order </a:t>
            </a:r>
            <a:r>
              <a:rPr lang="en-GB" sz="4000" b="1" i="0" dirty="0">
                <a:solidFill>
                  <a:srgbClr val="FFFFFF"/>
                </a:solidFill>
                <a:latin typeface="Calibri Light"/>
              </a:rPr>
              <a:t>-</a:t>
            </a:r>
            <a:r>
              <a:rPr sz="4000" b="1" i="0" dirty="0">
                <a:solidFill>
                  <a:srgbClr val="FFFFFF"/>
                </a:solidFill>
                <a:latin typeface="Calibri Light"/>
              </a:rPr>
              <a:t> watch it respond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703320"/>
            <a:ext cx="3840480" cy="3017520"/>
          </a:xfrm>
          <a:prstGeom prst="roundRect">
            <a:avLst/>
          </a:prstGeom>
          <a:solidFill>
            <a:srgbClr val="042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" y="3703320"/>
            <a:ext cx="3840480" cy="128016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25880" y="4087368"/>
            <a:ext cx="868680" cy="868680"/>
          </a:xfrm>
          <a:prstGeom prst="ellipse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4160520"/>
            <a:ext cx="868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7359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1206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1C933"/>
                </a:solidFill>
                <a:latin typeface="Calibri"/>
              </a:rP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5715000"/>
            <a:ext cx="3200400" cy="660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.xml work order into the web app</a:t>
            </a:r>
          </a:p>
        </p:txBody>
      </p:sp>
      <p:sp>
        <p:nvSpPr>
          <p:cNvPr id="14" name="Chevron 13"/>
          <p:cNvSpPr/>
          <p:nvPr/>
        </p:nvSpPr>
        <p:spPr>
          <a:xfrm>
            <a:off x="4855464" y="5065775"/>
            <a:ext cx="301751" cy="292608"/>
          </a:xfrm>
          <a:prstGeom prst="chevron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66360" y="3703320"/>
            <a:ext cx="3840480" cy="3017520"/>
          </a:xfrm>
          <a:prstGeom prst="roundRect">
            <a:avLst/>
          </a:prstGeom>
          <a:solidFill>
            <a:srgbClr val="042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66360" y="3703320"/>
            <a:ext cx="3840480" cy="128016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86400" y="4087368"/>
            <a:ext cx="868680" cy="868680"/>
          </a:xfrm>
          <a:prstGeom prst="ellipse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0" y="4160520"/>
            <a:ext cx="868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73590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1206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1C933"/>
                </a:solidFill>
                <a:latin typeface="Calibri"/>
              </a:rPr>
              <a:t>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715000"/>
            <a:ext cx="3200400" cy="660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symptom + flight cycles extracted</a:t>
            </a:r>
          </a:p>
        </p:txBody>
      </p:sp>
      <p:sp>
        <p:nvSpPr>
          <p:cNvPr id="21" name="Chevron 20"/>
          <p:cNvSpPr/>
          <p:nvPr/>
        </p:nvSpPr>
        <p:spPr>
          <a:xfrm>
            <a:off x="9015984" y="5065775"/>
            <a:ext cx="301751" cy="292608"/>
          </a:xfrm>
          <a:prstGeom prst="chevron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26880" y="3703320"/>
            <a:ext cx="3840480" cy="3017520"/>
          </a:xfrm>
          <a:prstGeom prst="roundRect">
            <a:avLst/>
          </a:prstGeom>
          <a:solidFill>
            <a:srgbClr val="042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26880" y="3703320"/>
            <a:ext cx="3840480" cy="128016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46919" y="4087368"/>
            <a:ext cx="868680" cy="868680"/>
          </a:xfrm>
          <a:prstGeom prst="ellipse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46919" y="4160520"/>
            <a:ext cx="868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73590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9" y="51206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1C933"/>
                </a:solidFill>
                <a:latin typeface="Calibri"/>
              </a:rPr>
              <a:t>Retrieve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5715000"/>
            <a:ext cx="3200400" cy="660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similar precursor cases / part info</a:t>
            </a:r>
          </a:p>
        </p:txBody>
      </p:sp>
      <p:sp>
        <p:nvSpPr>
          <p:cNvPr id="28" name="Chevron 27"/>
          <p:cNvSpPr/>
          <p:nvPr/>
        </p:nvSpPr>
        <p:spPr>
          <a:xfrm>
            <a:off x="13176503" y="5065775"/>
            <a:ext cx="301751" cy="292608"/>
          </a:xfrm>
          <a:prstGeom prst="chevron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3487399" y="3703320"/>
            <a:ext cx="3840480" cy="3017520"/>
          </a:xfrm>
          <a:prstGeom prst="roundRect">
            <a:avLst/>
          </a:prstGeom>
          <a:solidFill>
            <a:srgbClr val="042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487399" y="3703320"/>
            <a:ext cx="3840480" cy="128016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3807439" y="4087368"/>
            <a:ext cx="868680" cy="868680"/>
          </a:xfrm>
          <a:prstGeom prst="ellipse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807439" y="4160520"/>
            <a:ext cx="868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73590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07439" y="51206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1C933"/>
                </a:solidFill>
                <a:latin typeface="Calibri"/>
              </a:rPr>
              <a:t>Respond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07439" y="5715000"/>
            <a:ext cx="3200400" cy="660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cited answer + expected lead time*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7223760"/>
            <a:ext cx="16093440" cy="1691640"/>
          </a:xfrm>
          <a:prstGeom prst="roundRect">
            <a:avLst/>
          </a:prstGeom>
          <a:solidFill>
            <a:srgbClr val="F1C933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71600" y="7616765"/>
            <a:ext cx="15544800" cy="905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>
                <a:solidFill>
                  <a:srgbClr val="04225E"/>
                </a:solidFill>
                <a:latin typeface="Calibri"/>
              </a:rPr>
              <a:t>Today's demo:  </a:t>
            </a:r>
            <a:r>
              <a:rPr sz="2800" b="0" i="0" dirty="0">
                <a:solidFill>
                  <a:srgbClr val="1B2438"/>
                </a:solidFill>
                <a:latin typeface="Calibri"/>
              </a:rPr>
              <a:t>the online agent identifies a part from the work order and answers with citations. </a:t>
            </a:r>
            <a:endParaRPr lang="en-US" sz="2800" b="0" i="0" dirty="0">
              <a:solidFill>
                <a:srgbClr val="1B2438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 dirty="0">
                <a:solidFill>
                  <a:srgbClr val="B07400"/>
                </a:solidFill>
                <a:latin typeface="Calibri"/>
              </a:rPr>
              <a:t>*Lead-time prediction is the in-progress capability </a:t>
            </a:r>
            <a:r>
              <a:rPr lang="en-GB" sz="2000" b="0" i="1" dirty="0">
                <a:solidFill>
                  <a:srgbClr val="B07400"/>
                </a:solidFill>
                <a:latin typeface="Calibri"/>
              </a:rPr>
              <a:t>-</a:t>
            </a:r>
            <a:r>
              <a:rPr sz="2000" b="0" i="1" dirty="0">
                <a:solidFill>
                  <a:srgbClr val="B07400"/>
                </a:solidFill>
                <a:latin typeface="Calibri"/>
              </a:rPr>
              <a:t> shown as the target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320040" cy="10287000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5840" y="777240"/>
            <a:ext cx="822960" cy="14630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5544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073590"/>
                </a:solidFill>
                <a:latin typeface="Calibri"/>
              </a:rPr>
              <a:t>0</a:t>
            </a:r>
            <a:r>
              <a:rPr lang="en-US" sz="1500" b="1" i="0" dirty="0">
                <a:solidFill>
                  <a:srgbClr val="073590"/>
                </a:solidFill>
                <a:latin typeface="Calibri"/>
              </a:rPr>
              <a:t>4</a:t>
            </a:r>
            <a:r>
              <a:rPr sz="1500" b="1" i="0" dirty="0">
                <a:solidFill>
                  <a:srgbClr val="073590"/>
                </a:solidFill>
                <a:latin typeface="Calibri"/>
              </a:rPr>
              <a:t> · TAKING IT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98448"/>
            <a:ext cx="1627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B2438"/>
                </a:solidFill>
                <a:latin typeface="Calibri Light"/>
              </a:rPr>
              <a:t>From a working foundation to a deployed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98572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PMA · Predictive-Maintenance Agent · ASL Open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67759" y="98572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677"/>
                </a:solidFill>
                <a:latin typeface="Calibri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648" y="3090671"/>
            <a:ext cx="16613205" cy="47338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6647" y="3099279"/>
            <a:ext cx="16613205" cy="757750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299198"/>
            <a:ext cx="15773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ML Roadmap  ·  LLM labels → classical ML</a:t>
            </a:r>
          </a:p>
        </p:txBody>
      </p:sp>
      <p:sp>
        <p:nvSpPr>
          <p:cNvPr id="21" name="Oval 21"/>
          <p:cNvSpPr/>
          <p:nvPr/>
        </p:nvSpPr>
        <p:spPr>
          <a:xfrm>
            <a:off x="1249680" y="4028575"/>
            <a:ext cx="480000" cy="480000"/>
          </a:xfrm>
          <a:prstGeom prst="ellipse">
            <a:avLst/>
          </a:prstGeom>
          <a:solidFill>
            <a:srgbClr val="F1C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73590"/>
                </a:solidFill>
                <a:latin typeface="Calibri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9680" y="4608575"/>
            <a:ext cx="4964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dirty="0">
                <a:solidFill>
                  <a:srgbClr val="1B2438"/>
                </a:solidFill>
                <a:latin typeface="Calibri"/>
              </a:rPr>
              <a:t>Clean the data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9680" y="5048575"/>
            <a:ext cx="49644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dirty="0">
                <a:solidFill>
                  <a:srgbClr val="5B6677"/>
                </a:solidFill>
                <a:latin typeface="Calibri"/>
              </a:rPr>
              <a:t>Dedupe candidates · keep LLM verdicts · deterministic queries</a:t>
            </a:r>
          </a:p>
        </p:txBody>
      </p:sp>
      <p:sp>
        <p:nvSpPr>
          <p:cNvPr id="22" name="Oval 22"/>
          <p:cNvSpPr/>
          <p:nvPr/>
        </p:nvSpPr>
        <p:spPr>
          <a:xfrm>
            <a:off x="6614160" y="4028575"/>
            <a:ext cx="480000" cy="480000"/>
          </a:xfrm>
          <a:prstGeom prst="ellipse">
            <a:avLst/>
          </a:prstGeom>
          <a:solidFill>
            <a:srgbClr val="F1C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73590"/>
                </a:solidFill>
                <a:latin typeface="Calibri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14160" y="4608575"/>
            <a:ext cx="4964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dirty="0">
                <a:solidFill>
                  <a:srgbClr val="1B2438"/>
                </a:solidFill>
                <a:latin typeface="Calibri"/>
              </a:rPr>
              <a:t>Get human labels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14160" y="5048575"/>
            <a:ext cx="49644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dirty="0">
                <a:solidFill>
                  <a:srgbClr val="5B6677"/>
                </a:solidFill>
                <a:latin typeface="Calibri"/>
              </a:rPr>
              <a:t>SME sets: precursor pairs, removal reasons, chat questions</a:t>
            </a:r>
          </a:p>
        </p:txBody>
      </p:sp>
      <p:sp>
        <p:nvSpPr>
          <p:cNvPr id="23" name="Oval 23"/>
          <p:cNvSpPr/>
          <p:nvPr/>
        </p:nvSpPr>
        <p:spPr>
          <a:xfrm>
            <a:off x="11978640" y="4028575"/>
            <a:ext cx="480000" cy="480000"/>
          </a:xfrm>
          <a:prstGeom prst="ellipse">
            <a:avLst/>
          </a:prstGeom>
          <a:solidFill>
            <a:srgbClr val="F1C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73590"/>
                </a:solidFill>
                <a:latin typeface="Calibri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978640" y="4608575"/>
            <a:ext cx="4964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dirty="0">
                <a:solidFill>
                  <a:srgbClr val="1B2438"/>
                </a:solidFill>
                <a:latin typeface="Calibri"/>
              </a:rPr>
              <a:t>Rules, then ML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978640" y="5048575"/>
            <a:ext cx="49644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dirty="0">
                <a:solidFill>
                  <a:srgbClr val="5B6677"/>
                </a:solidFill>
                <a:latin typeface="Calibri"/>
              </a:rPr>
              <a:t>Rule baselines first · BQML logistic regression where rules plateau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6837257"/>
            <a:ext cx="15453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F1C933"/>
                </a:solidFill>
                <a:latin typeface="Calibri"/>
              </a:rPr>
              <a:t>Why not ML today: </a:t>
            </a:r>
            <a:r>
              <a:rPr sz="2000" b="0" dirty="0">
                <a:solidFill>
                  <a:srgbClr val="5B6677"/>
                </a:solidFill>
                <a:latin typeface="Calibri"/>
              </a:rPr>
              <a:t>30 positive labels, 29 from one component, noisy LLM verdicts · Top-20 rebuild adds ~3.5× replacements (718 → 2,566 WOs).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10287000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5840" y="868680"/>
            <a:ext cx="822960" cy="14630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051560"/>
            <a:ext cx="15544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073590"/>
                </a:solidFill>
                <a:latin typeface="Calibri"/>
              </a:rPr>
              <a:t>0</a:t>
            </a:r>
            <a:r>
              <a:rPr lang="en-US" sz="1500" b="1" i="0" dirty="0">
                <a:solidFill>
                  <a:srgbClr val="073590"/>
                </a:solidFill>
                <a:latin typeface="Calibri"/>
              </a:rPr>
              <a:t>5</a:t>
            </a:r>
            <a:r>
              <a:rPr sz="1500" b="1" i="0" dirty="0">
                <a:solidFill>
                  <a:srgbClr val="073590"/>
                </a:solidFill>
                <a:latin typeface="Calibri"/>
              </a:rPr>
              <a:t> ·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1600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B2438"/>
                </a:solidFill>
                <a:latin typeface="Calibri Light"/>
              </a:rPr>
              <a:t>Key lessons and where we go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2834640" cy="54864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2606039"/>
            <a:ext cx="7863840" cy="47578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" y="2606040"/>
            <a:ext cx="7863840" cy="566928"/>
          </a:xfrm>
          <a:prstGeom prst="rect">
            <a:avLst/>
          </a:prstGeom>
          <a:solidFill>
            <a:srgbClr val="073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2704838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Lessons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83280"/>
            <a:ext cx="7178040" cy="37315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2E7D32"/>
                </a:solidFill>
                <a:latin typeface="Calibri"/>
              </a:rPr>
              <a:t>✓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The signal is in the history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precursor → replacement is a real, learnable pattern in AMOS.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2E7D32"/>
                </a:solidFill>
                <a:latin typeface="Calibri"/>
              </a:rPr>
              <a:t>✓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Split offline / online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validate rigorously in batch, decide fast at runtime.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2E7D32"/>
                </a:solidFill>
                <a:latin typeface="Calibri"/>
              </a:rPr>
              <a:t>✓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Real schemas are the hard part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211 nested WO fields drove most of the data work.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2E7D32"/>
                </a:solidFill>
                <a:latin typeface="Calibri"/>
              </a:rPr>
              <a:t>✓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Ground everything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citations turn an LLM answer into something engineers trust.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2E7D32"/>
                </a:solidFill>
                <a:latin typeface="Calibri"/>
              </a:rPr>
              <a:t>✓  </a:t>
            </a:r>
            <a:r>
              <a:rPr sz="2000" b="1" dirty="0" err="1">
                <a:solidFill>
                  <a:srgbClr val="1B2438"/>
                </a:solidFill>
                <a:latin typeface="Calibri"/>
              </a:rPr>
              <a:t>IaC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 + telemetry from day one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Terraform and tracing paid off immediately.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2606039"/>
            <a:ext cx="7680960" cy="47619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418320" y="2606040"/>
            <a:ext cx="7680960" cy="566928"/>
          </a:xfrm>
          <a:prstGeom prst="rect">
            <a:avLst/>
          </a:prstGeom>
          <a:solidFill>
            <a:srgbClr val="F1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38360" y="2704838"/>
            <a:ext cx="7132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1B2438"/>
                </a:solidFill>
                <a:latin typeface="Calibri"/>
              </a:rPr>
              <a:t>GCP we'll take 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383280"/>
            <a:ext cx="6995160" cy="37315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b="1" dirty="0" err="1">
                <a:solidFill>
                  <a:srgbClr val="1B2438"/>
                </a:solidFill>
                <a:latin typeface="Calibri"/>
              </a:rPr>
              <a:t>BigQuery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embeddings, vector search and lead-time SQL in one place.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lang="en-GB" sz="2000" b="1" dirty="0">
                <a:solidFill>
                  <a:srgbClr val="1B2438"/>
                </a:solidFill>
                <a:latin typeface="Calibri"/>
              </a:rPr>
              <a:t>Agent Platform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 Search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grounded retrieval with metadata filters.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lang="en-GB" sz="2000" b="1" dirty="0">
                <a:solidFill>
                  <a:srgbClr val="1B2438"/>
                </a:solidFill>
                <a:latin typeface="Calibri"/>
              </a:rPr>
              <a:t>Agent Platform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 </a:t>
            </a:r>
            <a:r>
              <a:rPr lang="en-US" sz="2000" b="1" dirty="0">
                <a:solidFill>
                  <a:srgbClr val="1B2438"/>
                </a:solidFill>
                <a:latin typeface="Calibri"/>
              </a:rPr>
              <a:t> </a:t>
            </a:r>
            <a:r>
              <a:rPr lang="en-US" sz="2000" b="1" dirty="0" err="1">
                <a:solidFill>
                  <a:srgbClr val="1B2438"/>
                </a:solidFill>
                <a:latin typeface="Calibri"/>
              </a:rPr>
              <a:t>but</a:t>
            </a:r>
            <a:r>
              <a:rPr sz="2000" b="1" dirty="0" err="1">
                <a:solidFill>
                  <a:srgbClr val="1B2438"/>
                </a:solidFill>
                <a:latin typeface="Calibri"/>
              </a:rPr>
              <a:t>Runtime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 + Gemini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managed hosting, routing, generation.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b="1" dirty="0" err="1">
                <a:solidFill>
                  <a:srgbClr val="1B2438"/>
                </a:solidFill>
                <a:latin typeface="Calibri"/>
              </a:rPr>
              <a:t>Eventarc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 / Pub-Sub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the event-driven trigger for online decisions.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073590"/>
                </a:solidFill>
                <a:latin typeface="Calibri"/>
              </a:rPr>
              <a:t>→  </a:t>
            </a:r>
            <a:r>
              <a:rPr sz="2000" b="1" dirty="0">
                <a:solidFill>
                  <a:srgbClr val="1B2438"/>
                </a:solidFill>
                <a:latin typeface="Calibri"/>
              </a:rPr>
              <a:t>Terraform + Cloud Trace </a:t>
            </a:r>
            <a:r>
              <a:rPr lang="en-GB" sz="2000" dirty="0">
                <a:solidFill>
                  <a:srgbClr val="1B2438"/>
                </a:solidFill>
                <a:latin typeface="Calibri"/>
              </a:rPr>
              <a:t>-</a:t>
            </a:r>
            <a:r>
              <a:rPr sz="2000" dirty="0">
                <a:solidFill>
                  <a:srgbClr val="1B2438"/>
                </a:solidFill>
                <a:latin typeface="Calibri"/>
              </a:rPr>
              <a:t> reproducible infra and built-in observability.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39" y="7866628"/>
            <a:ext cx="160934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dirty="0">
                <a:solidFill>
                  <a:srgbClr val="073590"/>
                </a:solidFill>
                <a:latin typeface="Calibri"/>
              </a:rPr>
              <a:t>References:  </a:t>
            </a:r>
            <a:r>
              <a:rPr sz="1300" b="0" i="0" dirty="0">
                <a:solidFill>
                  <a:srgbClr val="5B6677"/>
                </a:solidFill>
                <a:latin typeface="Calibri"/>
              </a:rPr>
              <a:t>Ryanair maintenance reports </a:t>
            </a:r>
            <a:r>
              <a:rPr lang="en-GB" sz="1300" b="0" i="0" dirty="0">
                <a:solidFill>
                  <a:srgbClr val="5B6677"/>
                </a:solidFill>
                <a:latin typeface="Calibri"/>
              </a:rPr>
              <a:t>-</a:t>
            </a:r>
            <a:r>
              <a:rPr sz="1300" b="0" i="0" dirty="0">
                <a:solidFill>
                  <a:srgbClr val="5B6677"/>
                </a:solidFill>
                <a:latin typeface="Calibri"/>
              </a:rPr>
              <a:t> Forecast Check · non-effective Part Number Analysis &amp; Validation · Kestrel – AMOS Work Order.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39" y="8195979"/>
            <a:ext cx="16093440" cy="1143000"/>
          </a:xfrm>
          <a:prstGeom prst="roundRect">
            <a:avLst/>
          </a:prstGeom>
          <a:solidFill>
            <a:srgbClr val="073590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599" y="8605896"/>
            <a:ext cx="1554480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 dirty="0">
                <a:solidFill>
                  <a:srgbClr val="F1C933"/>
                </a:solidFill>
                <a:latin typeface="Calibri"/>
              </a:rPr>
              <a:t>Catch the precursor, predict the lead time </a:t>
            </a:r>
            <a:r>
              <a:rPr lang="en-GB" sz="2100" b="1" i="0" dirty="0">
                <a:solidFill>
                  <a:srgbClr val="F1C933"/>
                </a:solidFill>
                <a:latin typeface="Calibri"/>
              </a:rPr>
              <a:t>-</a:t>
            </a:r>
            <a:r>
              <a:rPr sz="2100" b="1" i="0" dirty="0">
                <a:solidFill>
                  <a:srgbClr val="F1C933"/>
                </a:solidFill>
                <a:latin typeface="Calibri"/>
              </a:rPr>
              <a:t> </a:t>
            </a:r>
            <a:r>
              <a:rPr sz="2100" b="0" i="0" dirty="0">
                <a:solidFill>
                  <a:srgbClr val="FFFFFF"/>
                </a:solidFill>
                <a:latin typeface="Calibri"/>
              </a:rPr>
              <a:t>turn unscheduled maintenance into planned. Thank you </a:t>
            </a:r>
            <a:r>
              <a:rPr lang="en-GB" sz="2100" b="0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2100" b="0" i="0" dirty="0">
                <a:solidFill>
                  <a:srgbClr val="FFFFFF"/>
                </a:solidFill>
                <a:latin typeface="Calibri"/>
              </a:rPr>
              <a:t> questions welcome.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67759" y="98572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1835</Words>
  <Application>Microsoft Macintosh PowerPoint</Application>
  <PresentationFormat>Custom</PresentationFormat>
  <Paragraphs>129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Kułaga, Sebastian</cp:lastModifiedBy>
  <cp:revision>9</cp:revision>
  <dcterms:created xsi:type="dcterms:W3CDTF">2013-01-27T09:14:16Z</dcterms:created>
  <dcterms:modified xsi:type="dcterms:W3CDTF">2026-09-24T15:16:39Z</dcterms:modified>
  <cp:category/>
</cp:coreProperties>
</file>